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80" y="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0A68646-D0EF-3144-A89F-31C222EFD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709" y="2643271"/>
            <a:ext cx="6934072" cy="200492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85C948F-29A0-D2C8-6306-144B8C8908EA}"/>
              </a:ext>
            </a:extLst>
          </p:cNvPr>
          <p:cNvSpPr txBox="1"/>
          <p:nvPr/>
        </p:nvSpPr>
        <p:spPr>
          <a:xfrm>
            <a:off x="1733140" y="1092971"/>
            <a:ext cx="82959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/>
                <a:cs typeface="Arial"/>
              </a:rPr>
              <a:t>Extract the firmware download tool package </a:t>
            </a:r>
            <a:r>
              <a:rPr lang="en-US" altLang="zh-CN" sz="3200" b="1" dirty="0">
                <a:latin typeface="Arial"/>
                <a:cs typeface="Arial"/>
              </a:rPr>
              <a:t>flash_download_tool.zip</a:t>
            </a:r>
            <a:endParaRPr lang="zh-CN" altLang="en-US" sz="32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0318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3AD45-CB3C-6A03-6979-DB3C811FE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632797C-1406-2C23-8144-207182CBB158}"/>
              </a:ext>
            </a:extLst>
          </p:cNvPr>
          <p:cNvSpPr txBox="1"/>
          <p:nvPr/>
        </p:nvSpPr>
        <p:spPr>
          <a:xfrm>
            <a:off x="2648581" y="1488831"/>
            <a:ext cx="72617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Arial"/>
                <a:cs typeface="Arial"/>
              </a:rPr>
              <a:t>Run </a:t>
            </a:r>
            <a:r>
              <a:rPr lang="en-US" altLang="zh-CN" sz="3200" b="1" dirty="0">
                <a:latin typeface="Arial"/>
                <a:cs typeface="Arial"/>
              </a:rPr>
              <a:t>flash_download_tool_3.9.11.exe</a:t>
            </a:r>
            <a:endParaRPr lang="zh-CN" altLang="en-US" sz="3200" b="1" dirty="0">
              <a:latin typeface="Arial"/>
              <a:cs typeface="Arial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8F5EBB5-5516-45A1-92A8-0B5BEAD58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925" y="2343555"/>
            <a:ext cx="6782149" cy="322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155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138E0-2E9D-471E-2443-3B4E7F238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2E933A2-BDEC-E6C5-6097-FA51E19FC8D1}"/>
              </a:ext>
            </a:extLst>
          </p:cNvPr>
          <p:cNvSpPr txBox="1"/>
          <p:nvPr/>
        </p:nvSpPr>
        <p:spPr>
          <a:xfrm>
            <a:off x="2103868" y="1793631"/>
            <a:ext cx="74318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dirty="0">
                <a:latin typeface="Arial"/>
                <a:cs typeface="Arial"/>
              </a:rPr>
              <a:t>Select the </a:t>
            </a:r>
            <a:r>
              <a:rPr lang="zh-CN" altLang="zh-CN" sz="3200" b="1" dirty="0">
                <a:latin typeface="Arial"/>
                <a:cs typeface="Arial"/>
              </a:rPr>
              <a:t>ESP32-S3</a:t>
            </a:r>
            <a:r>
              <a:rPr lang="zh-CN" altLang="zh-CN" sz="3200" dirty="0">
                <a:latin typeface="Arial"/>
                <a:cs typeface="Arial"/>
              </a:rPr>
              <a:t> chip and click </a:t>
            </a:r>
            <a:r>
              <a:rPr lang="zh-CN" altLang="zh-CN" sz="3200" b="1" dirty="0">
                <a:latin typeface="Arial"/>
                <a:cs typeface="Arial"/>
              </a:rPr>
              <a:t>OK</a:t>
            </a:r>
            <a:r>
              <a:rPr lang="zh-CN" altLang="zh-CN" sz="3200" dirty="0">
                <a:latin typeface="Arial"/>
                <a:cs typeface="Arial"/>
              </a:rPr>
              <a:t>.</a:t>
            </a:r>
            <a:endParaRPr lang="zh-CN" altLang="en-US" sz="3200" dirty="0">
              <a:latin typeface="Arial"/>
              <a:cs typeface="Arial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1397D05-0CDE-375A-C8C8-3045E8183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205" y="2852062"/>
            <a:ext cx="2711589" cy="250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733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9742C-BBA9-AADA-83EC-D4AA0F943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8E9C7C02-183C-1127-E2F7-3608B58015BB}"/>
              </a:ext>
            </a:extLst>
          </p:cNvPr>
          <p:cNvSpPr txBox="1"/>
          <p:nvPr/>
        </p:nvSpPr>
        <p:spPr>
          <a:xfrm>
            <a:off x="258947" y="252684"/>
            <a:ext cx="6727048" cy="5183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Arial"/>
                <a:cs typeface="Arial"/>
              </a:rPr>
              <a:t>Select the </a:t>
            </a:r>
            <a:r>
              <a:rPr lang="en-US" altLang="zh-CN" sz="2800" b="1" dirty="0" err="1">
                <a:solidFill>
                  <a:srgbClr val="FF0000"/>
                </a:solidFill>
                <a:latin typeface="Arial"/>
                <a:cs typeface="Arial"/>
              </a:rPr>
              <a:t>MCU_Example.bin</a:t>
            </a:r>
            <a:r>
              <a:rPr lang="en-US" altLang="zh-CN" sz="28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zh-CN" sz="2800" dirty="0">
                <a:latin typeface="Arial"/>
                <a:cs typeface="Arial"/>
              </a:rPr>
              <a:t>firmware file and set the </a:t>
            </a:r>
            <a:r>
              <a:rPr lang="en-US" altLang="zh-CN" sz="2800" b="1" dirty="0">
                <a:latin typeface="Arial"/>
                <a:cs typeface="Arial"/>
              </a:rPr>
              <a:t>address to </a:t>
            </a:r>
            <a:r>
              <a:rPr lang="en-US" altLang="zh-CN" sz="2800" b="1" dirty="0">
                <a:solidFill>
                  <a:srgbClr val="FF0000"/>
                </a:solidFill>
                <a:latin typeface="Arial"/>
                <a:cs typeface="Arial"/>
              </a:rPr>
              <a:t>0x0</a:t>
            </a:r>
            <a:r>
              <a:rPr lang="en-US" altLang="zh-CN" sz="2800" dirty="0">
                <a:latin typeface="Arial"/>
                <a:cs typeface="Arial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Arial"/>
                <a:cs typeface="Arial"/>
              </a:rPr>
              <a:t>Connect the microcontroller's COM port to the computer.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Arial"/>
                <a:cs typeface="Arial"/>
              </a:rPr>
              <a:t>Select the microcontroller's COM port in the bottom-right corner of the flashing tool.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Arial"/>
                <a:cs typeface="Arial"/>
              </a:rPr>
              <a:t>Click the </a:t>
            </a:r>
            <a:r>
              <a:rPr lang="en-US" altLang="zh-CN" sz="2800" b="1" dirty="0">
                <a:solidFill>
                  <a:srgbClr val="FF0000"/>
                </a:solidFill>
                <a:latin typeface="Arial"/>
                <a:cs typeface="Arial"/>
              </a:rPr>
              <a:t>START</a:t>
            </a:r>
            <a:r>
              <a:rPr lang="en-US" altLang="zh-CN" sz="2800" dirty="0">
                <a:latin typeface="Arial"/>
                <a:cs typeface="Arial"/>
              </a:rPr>
              <a:t> button to begin flashing.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06B078D-464D-357A-679E-D29025803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2086" y="775614"/>
            <a:ext cx="3023366" cy="493513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F31D2E6-1885-E1CF-1C36-81A837EC7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995" y="2133600"/>
            <a:ext cx="2136091" cy="194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297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5A5AE-86E9-0179-0C1C-495A7E57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EC0E3435-A860-B601-94DB-6A1A20299FF0}"/>
              </a:ext>
            </a:extLst>
          </p:cNvPr>
          <p:cNvSpPr txBox="1"/>
          <p:nvPr/>
        </p:nvSpPr>
        <p:spPr>
          <a:xfrm>
            <a:off x="291180" y="1625816"/>
            <a:ext cx="7101926" cy="2597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Arial"/>
                <a:cs typeface="Arial"/>
              </a:rPr>
              <a:t>Wait for the progress bar to complete and for the </a:t>
            </a:r>
            <a:r>
              <a:rPr lang="en-US" altLang="zh-CN" sz="2800" b="1" dirty="0">
                <a:latin typeface="Arial"/>
                <a:cs typeface="Arial"/>
              </a:rPr>
              <a:t>"FINISH" </a:t>
            </a:r>
            <a:r>
              <a:rPr lang="en-US" altLang="zh-CN" sz="2800" dirty="0">
                <a:latin typeface="Arial"/>
                <a:cs typeface="Arial"/>
              </a:rPr>
              <a:t>prompt to appear.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Arial"/>
                <a:cs typeface="Arial"/>
              </a:rPr>
              <a:t>Press the RST button on the microcontroller, or power-cycle it, to run the program.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2E204FE-F591-51E5-4FB6-FC31A689B8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265"/>
          <a:stretch>
            <a:fillRect/>
          </a:stretch>
        </p:blipFill>
        <p:spPr>
          <a:xfrm>
            <a:off x="7664996" y="1312985"/>
            <a:ext cx="4235824" cy="155916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D1087B0-8F7E-4D17-93A6-CA6EDCDB9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996" y="2924730"/>
            <a:ext cx="4203834" cy="155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438838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136</Words>
  <Application>Microsoft Office PowerPoint</Application>
  <PresentationFormat>宽屏</PresentationFormat>
  <Paragraphs>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郭熙霖</dc:creator>
  <cp:lastModifiedBy>熙霖 郭</cp:lastModifiedBy>
  <cp:revision>18</cp:revision>
  <dcterms:created xsi:type="dcterms:W3CDTF">2023-08-09T12:44:00Z</dcterms:created>
  <dcterms:modified xsi:type="dcterms:W3CDTF">2026-10-28T16:34:13Z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